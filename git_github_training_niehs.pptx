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368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5EEAD4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14400"/>
            <a:ext cx="640080" cy="6400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914400"/>
            <a:ext cx="640080" cy="6400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&amp; GitHub for Scientists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640080" y="2606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Training Using Posit Cloud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640080" y="3337560"/>
            <a:ext cx="1371600" cy="36576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" y="35661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Environmental Health Sciences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3-Hour Workshop  •  Beginner Friendly  •  No Prior Git Experience Needed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Workshop 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069848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0058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331720" y="100584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Version Control for Science?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32320" y="100584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499616"/>
            <a:ext cx="786384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563624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149961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2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331720" y="149961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Up: GitHub, PAT, &amp; Posit Cloud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132320" y="149961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1993392"/>
            <a:ext cx="786384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057400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199339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3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2331720" y="199339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Git Workflow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132320" y="199339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2487168"/>
            <a:ext cx="7863840" cy="438912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551176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34440" y="248716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7132320" y="248716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40080" y="2980944"/>
            <a:ext cx="786384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044952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34440" y="298094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4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2331720" y="298094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&amp; Collaboration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7132320" y="298094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640080" y="3474720"/>
            <a:ext cx="786384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3538728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234440" y="34747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5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2331720" y="347472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for Scientific Teams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7132320" y="347472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640080" y="3968496"/>
            <a:ext cx="786384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4032504"/>
            <a:ext cx="310896" cy="31089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234440" y="396849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6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2331720" y="396849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.gitignore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7132320" y="396849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640080" y="4462272"/>
            <a:ext cx="786384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4526280"/>
            <a:ext cx="310896" cy="310896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234440" y="446227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Capstone Exercise</a:t>
            </a:r>
            <a:endParaRPr lang="en-US" sz="1400" dirty="0"/>
          </a:p>
        </p:txBody>
      </p:sp>
      <p:sp>
        <p:nvSpPr>
          <p:cNvPr id="40" name="Text 30"/>
          <p:cNvSpPr/>
          <p:nvPr/>
        </p:nvSpPr>
        <p:spPr>
          <a:xfrm>
            <a:off x="7132320" y="446227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We Start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confirm you have these ready: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087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371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free GitHub account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17099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at github.com if you haven't already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19456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774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2402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Posit Cloud account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25786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at posit.cloud — free tier is fine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06324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461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108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modern web browser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34472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Firefox, or Edge recommended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393192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148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977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NIEHS email handy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17320" y="43159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Git identity configuration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5E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Version Control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Science?</a:t>
            </a:r>
            <a:endParaRPr lang="en-US" sz="3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9319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 Familiar?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097280"/>
            <a:ext cx="23774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2344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analysis.R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566160" y="1097280"/>
            <a:ext cx="23774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2344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analysis_v2.R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309360" y="1097280"/>
            <a:ext cx="23774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23444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0080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analysis_v2_final.R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822960" y="2468880"/>
            <a:ext cx="23774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60604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440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analysis_v2_final_REAL.R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3566160" y="2468880"/>
            <a:ext cx="23774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606040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65760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analysis_v2_final_REAL_use_this.R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6309360" y="2468880"/>
            <a:ext cx="23774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606040"/>
            <a:ext cx="320040" cy="3200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40080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analysis_v2_final_REAL_FIXED.R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eliminates this chaos entirely.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Things Go Wrong Without Version Control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960120"/>
            <a:ext cx="64008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grad student accidentally deleted 6 months of analysis code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399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backup, no history — had to reconstruct from memory and old emails.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920240"/>
            <a:ext cx="64008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postdocs edited the same R script simultaneously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359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overwrote the other's changes. Three days of work lost.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880360"/>
            <a:ext cx="64008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reviewer asked "how did you handle outliers in the 2nd revision?"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3192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couldn't trace which version of the code produced which results.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840480"/>
            <a:ext cx="64008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Sensitive patient identifiers were emailed in a data file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2793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of who had access. Version control would show exactly when and how.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Git Gives You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960120"/>
            <a:ext cx="64008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History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recorded with who, what, when, and why — you can always go back.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874520"/>
            <a:ext cx="64008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Fearless Experimentation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new analyses on branches without risking your working code.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788920"/>
            <a:ext cx="64008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Reproducibility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Collaborators and reviewers can see exactly how results were produced.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703320"/>
            <a:ext cx="64008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scientists work on the same project without overwriting each other.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vs. GitHub — They're Different Things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12801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5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05840" y="25603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version control software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Tracks changes to files locally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offline — no internet needed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 and open source since 2005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 by Linus Torvalds (Linux creator)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Runs on your machine (or Posit Cloud)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28016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37760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5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5120640" y="25603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hosting platform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Stores repos online for sharing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Adds issues, pull requests, wikis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 for public &amp; private repos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Owned by Microsoft (since 2018)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Alternatives: GitLab, Bitbucket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Comparing Approaches to Version Control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History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Branching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Collaboration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Manual copies</a:t>
                      </a:r>
                      <a:endParaRPr lang="en-US" sz="1100" dirty="0"/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(analysis_v2_final.R)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Fragile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Shared drive /</a:t>
                      </a:r>
                      <a:endParaRPr lang="en-US" sz="1100" dirty="0"/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Dropbox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Sync only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Risky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Email attachments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Copies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Chaotic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Google Drive /</a:t>
                      </a:r>
                      <a:endParaRPr lang="en-US" sz="1100" dirty="0"/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OneDrive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Auto-save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Limited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Comments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 code tools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Git + GitHub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Full history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Branches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PRs, Issues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Robust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the only approach that gives you full history, branching, and robust collaboration tools.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Supports NIEHS FAIR+ Principles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NIEHS 2025–2029 Strategic Plan emphasizes FAIR+ data and reproducibility.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is foundational to both.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94360" cy="777240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234440" y="1508760"/>
            <a:ext cx="7269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17320" y="15544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89280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 a public GitHub repo with DOI via Zenodo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50008"/>
            <a:ext cx="59436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50008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234440" y="2350008"/>
            <a:ext cx="7269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17320" y="23957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73405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clone, inspect, and run your analysis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191256"/>
            <a:ext cx="594360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91256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1234440" y="3191256"/>
            <a:ext cx="7269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17320" y="323697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Interoperable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57530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project structure works across platforms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032504"/>
            <a:ext cx="59436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32504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1234440" y="4032504"/>
            <a:ext cx="7269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417320" y="407822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Reusable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4165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commit history documents every decision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Git Fits in the Research Lifecycle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280160" cy="914400"/>
          </a:xfrm>
          <a:prstGeom prst="rect">
            <a:avLst/>
          </a:prstGeom>
          <a:solidFill>
            <a:srgbClr val="2563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887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920240" y="1188720"/>
            <a:ext cx="1280160" cy="914400"/>
          </a:xfrm>
          <a:prstGeom prst="rect">
            <a:avLst/>
          </a:prstGeom>
          <a:solidFill>
            <a:srgbClr val="2563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920240" y="11887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1280160" cy="91440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1887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1280160" cy="91440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1887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1280160" cy="914400"/>
          </a:xfrm>
          <a:prstGeom prst="rect">
            <a:avLst/>
          </a:prstGeom>
          <a:solidFill>
            <a:srgbClr val="6366F1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1887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Manuscript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1188720"/>
            <a:ext cx="1280160" cy="914400"/>
          </a:xfrm>
          <a:prstGeom prst="rect">
            <a:avLst/>
          </a:prstGeom>
          <a:solidFill>
            <a:srgbClr val="6366F1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0" y="11887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859536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3383280" y="2468880"/>
            <a:ext cx="56692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Shape 15"/>
          <p:cNvSpPr/>
          <p:nvPr/>
        </p:nvSpPr>
        <p:spPr>
          <a:xfrm>
            <a:off x="3383280" y="2468880"/>
            <a:ext cx="54864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8997696" y="2468880"/>
            <a:ext cx="54864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+ GitHub are active here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2918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tracks every change from the moment you start coding through publication.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reproducible science, the code that generated your published results should be traceable to a specific commit.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journals now require code and data availability — GitHub makes this easy.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5E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Setting Up: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GitHub, PAT, &amp; Posit Cloud</a:t>
            </a:r>
            <a:endParaRPr lang="en-US" sz="3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9319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minutes  •  Follow along!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1: Create a GitHub Account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960120"/>
            <a:ext cx="384048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96012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github.com and click "Sign Up"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384048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5087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NIEHS email for institutional recognition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384048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05740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professional username (e.g., jsmith-niehs)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2606040"/>
            <a:ext cx="384048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60604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email verification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3154680"/>
            <a:ext cx="384048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15468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personalization steps for now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solidFill>
            <a:srgbClr val="FEF3C7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50208"/>
            <a:ext cx="320040" cy="320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325880" y="38404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NIH employees may qualify for a free GitHub Education/Research plan with unlimited private repos and CI minutes.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Tour of the GitHub Interface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logged in, your GitHub dashboard shows: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52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56362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projects — each repo holds code, docs, and history for one project.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947672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27685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public identity — shows contributions, bio, and pinned repos.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660904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660904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679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Settings → Developer settings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990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create Personal Access Tokens (next step).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74136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374136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3924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green "New" button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703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repository — you'll use this shortly.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087368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087368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1056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Notifications (bell icon)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4165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for pull requests, issues, and mentions from collaborators.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1b: Create Your First Repository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868680"/>
            <a:ext cx="347472" cy="347472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8686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green "New" button (or go to github.com/new)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344168"/>
            <a:ext cx="347472" cy="347472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3441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name: "git-workshop" (short, lowercase, hyphens not spaces)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819656"/>
            <a:ext cx="347472" cy="347472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19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81965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"Practice repo for NIEHS Git training"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2295144"/>
            <a:ext cx="347472" cy="347472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295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29514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Visibility: Private (you can make it public later)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2770632"/>
            <a:ext cx="347472" cy="347472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770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7706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"Add a README file"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3246120"/>
            <a:ext cx="347472" cy="347472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2461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.gitignore: select "R" from the dropdown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3721608"/>
            <a:ext cx="347472" cy="347472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72160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License: skip for now (we'll cover licensing later)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" y="4197096"/>
            <a:ext cx="347472" cy="347472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197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419709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"Create repository" — you now have a repo!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2: Create a Personal Access Token (PAT)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no longer accepts passwords for Git operations. You need a PAT instead.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347472" cy="347472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2344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→ Settings → Developer settings → Personal access tokens → Tokens (classic)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737360"/>
            <a:ext cx="347472" cy="347472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"Generate new token" → "Generate new token (classic)"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240280"/>
            <a:ext cx="347472" cy="347472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240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2402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"Posit Cloud access" — Expiration: 90 days (or custom)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2743200"/>
            <a:ext cx="347472" cy="347472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7432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Scopes: check "repo" (full control of private repositories)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3246120"/>
            <a:ext cx="347472" cy="347472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2461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"Generate token" — COPY IT NOW (you won't see it again!)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solidFill>
            <a:srgbClr val="FEE2E2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14800"/>
            <a:ext cx="320040" cy="320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25880" y="39776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PAT in a password manager. You will use it as your password when Posit Cloud prompts for Git credentials.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PAT Scopes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creating a PAT, the "scopes" control what the token can do. For this workshop, you only need "repo".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Scope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Check it?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repo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Read/write access to repositories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Required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workflow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Update GitHub Actions workflows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Optional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write:packages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Upload packages to GitHub Packages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Optional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read:org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Read organization membership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Optional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gist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Create gists (code snippets)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Optional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of least privilege: only grant the scopes you actually need. For basic Git operations, "repo" is sufficient.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3: Create a Posit Cloud Project from GitHub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914400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1440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9601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in at posit.cloud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2801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your Personal Workspace.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682496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682496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682496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172821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Click "New Project" dropdown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04825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"New Project from Git Repository".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50592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450592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450592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249631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Paste the HTTPS URL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28163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HTTPS URL from your GitHub repo (not SSH!).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218688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218688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218688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326440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 for the project to build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584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 Cloud clones the repo and sets up RStudio.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986784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986784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986784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80160" y="403250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Verify: you should see your files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435254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and .gitignore should appear in the Files pane.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HTTPS vs. SSH Authentication on Posit Cloud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two ways to authenticate with GitHub. On Posit Cloud, HTTPS with a PAT is the simplest.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749040" cy="256032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HTTPS + PAT  ✓ Recommended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out of the box on Posit Cloud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URL format: https://github.com/...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 username + PAT when prompted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Credential cache lasts 12 hours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Simpler to set up and troubleshoot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749040" cy="256032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SSH Keys  (Advanced)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87452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generating SSH key pair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URL format: git@github.com:...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Must add public key to GitHub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use from "New Project from Git"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configure after project creation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workshop, we use HTTPS + PAT. You can switch to SSH later if your team prefers it.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4: Configure Your Git Identity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Posit Cloud Terminal tab (not the Console), type: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786384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258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config --global user.name "Your Name"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config --global user.email "you@niehs.nih.gov"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config --global --list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Git labels each commit with your identity. Use your real name and NIEHS email.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7863840" cy="128016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47472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 Cloud specifics: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5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Credential cache is 12 hours by default — enter PAT once per session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5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When prompted for "password," enter your PAT — not your GitHub password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5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you linked GitHub to Posit Cloud, your name/email may already be configured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Terminal vs. Console — Know the Difference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914400"/>
            <a:ext cx="37490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14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Runs bash/shell commands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Where you type git commands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Has a $ prompt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Access: bottom-left pane → Terminal tab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Also runs system commands (ls, cd, etc.)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is where all Git commands go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14400"/>
            <a:ext cx="374904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914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Console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Runs R code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Where R scripts execute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Has a &gt; prompt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Access: bottom-left pane → Console tab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 data analysis, plotting, packages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 commands do NOT work here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2976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typing git commands in the R Console instead of the Terminal. If you see "Error: object 'git' not found" you're in the wrong tab!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RStudio Git Pane in Posit Cloud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Git is initialized, the Git tab appears in the upper-right pane of RStudio.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78638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786384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344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   History    Connections    Git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66420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    Commit    ↓ Pull    ↑ Push    ⏱ History    ⚙    🔀 main ▾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7498080" cy="4114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031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 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103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new_analysis.R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103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Untracked new file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532888"/>
            <a:ext cx="749808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53288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 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25328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cleaning_script.R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5328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(unstaged)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2962656"/>
            <a:ext cx="749808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96265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 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296265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96265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for commit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392424"/>
            <a:ext cx="749808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39242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  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54480" y="339242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old_draft.R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339242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Alternative: Enable Git on an Existing Project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already have a Posit Cloud project without Git: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78638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5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Via RStudio Menu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→ Version Control → Project Setup → Version Control System: Git → Yes, restart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usethis::use_git() does NOT work on Posit Cloud. You must use the menu.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78638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5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Then Connect to GitHub (Terminal)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337560"/>
            <a:ext cx="749808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3832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remote add origin https://github.com/you/repo.git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-u origin main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Enter username + PAT when prompted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7863840" cy="4389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943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48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5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Exercise 0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005840" y="10515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Setup — 5 minutes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05840" y="146304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Confirm you can see the Git tab in the upper-right pane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" y="1792224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Open the Terminal (not Console) — you should see a $ prompt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2121408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Type: git config --global user.name — does it show your name?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2450592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Type: git config --global user.email — does it show your NIEHS email?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2779776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Type: git status — you should see "On branch main" and "nothing to commit"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0" y="310896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Type: git remote -v — you should see your GitHub URL listed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3438144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If anything is wrong, raise your hand — we'll help troubleshoot!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5E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Git Workflow</a:t>
            </a:r>
            <a:endParaRPr lang="en-US" sz="3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9319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minutes  •  The heart of the workshop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Git Cycle: Edit → Stage → Commit → Push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182880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changes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your files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8288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0" y="1097280"/>
            <a:ext cx="1828800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097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697480" y="19202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which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to save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18288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97280"/>
            <a:ext cx="18288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097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00600" y="19202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locally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1097280"/>
            <a:ext cx="18288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66560" y="1097280"/>
            <a:ext cx="1828800" cy="594360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1097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03720" y="19202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377440" y="1965960"/>
            <a:ext cx="54864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0" name="Shape 18"/>
          <p:cNvSpPr/>
          <p:nvPr/>
        </p:nvSpPr>
        <p:spPr>
          <a:xfrm>
            <a:off x="4480560" y="1965960"/>
            <a:ext cx="54864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0" y="1965960"/>
            <a:ext cx="54864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saving a document — but you control exactly when and what gets saved, with a note about why.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repeat this cycle hundreds of times. It becomes muscle memory.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Three Areas of Git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manages your files across three areas. Understanding this is key to understanding every Git command.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2860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228600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Directory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actual files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disk — what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edit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463040"/>
            <a:ext cx="22860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463040"/>
            <a:ext cx="228600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Staging Area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(Index)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2860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selected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next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0" y="1463040"/>
            <a:ext cx="22860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60720" y="1463040"/>
            <a:ext cx="2286000" cy="640080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(History)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0" y="22860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record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committed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1168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5E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3886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 GitHub)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status — Your Most Important Command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 status constantly. It tells you exactly what state your files are 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7863840" cy="3200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25880"/>
            <a:ext cx="7315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branch main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branch is up to date with 'origin/main'.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 to be committed: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(use "git restore --staged &lt;file&gt;" to unstage)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modified:   README.md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 not staged for commit: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(use "git add &lt;file&gt;" to update what will be committed)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modified:   analysis.R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Untracked files: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new_script.R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Stage? Why Not Just Commit Everything?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lets you craft focused, meaningful commits — even when you've changed many files.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863840" cy="1371600"/>
          </a:xfrm>
          <a:prstGeom prst="rect">
            <a:avLst/>
          </a:prstGeom>
          <a:solidFill>
            <a:srgbClr val="FEF3C7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258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Scenario: You've been working for an hour and changed 5 files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Fixed a bug in the analysis script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Added a new figure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Updated the README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Cleaned up some old commented-out code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Started (but didn't finish) a new model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3749040" cy="1828800"/>
          </a:xfrm>
          <a:prstGeom prst="rect">
            <a:avLst/>
          </a:prstGeom>
          <a:solidFill>
            <a:srgbClr val="FEE2E2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880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staging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giant commit: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"updated a bunch of stuff"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Impossible to review or revert individual changes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834640"/>
            <a:ext cx="3749040" cy="182880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880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staging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324612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1: "Fix p-value bug in analysis"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2: "Add Figure 3 dose-response"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3: "Update README methods"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Clean, reviewable, revertable history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&amp; Commit Using the RStudio GUI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914400"/>
            <a:ext cx="457200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93268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the Staged checkbox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26187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Git pane, check the box next to files for this commit.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682496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682496"/>
            <a:ext cx="457200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82496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170078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Click "Commit"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02996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Review Changes window with a diff view.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50592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450592"/>
            <a:ext cx="457200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5059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24688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a commit message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279806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changed and WHY. Be specific.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218688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218688"/>
            <a:ext cx="457200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1868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23697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Click "Commit" button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5661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records the snapshot. Confirmation message appears.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986784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986784"/>
            <a:ext cx="457200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98678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400507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Click "Push" (↑ arrow)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433425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commits to GitHub. Enter username + PAT if prompted.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Same Workflow in the Terminal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commands deepens understanding and lets you do things the GUI can't.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7863840" cy="3200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25880"/>
            <a:ext cx="7315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what's changed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specific files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analysis.R data/cleaned_data.csv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stage everything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Commit with a message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"Add dose-response analysis for PFAS data"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Push to GitHub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diff — See Exactly What Changed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committing, review your changes. The diff view shows every line added or removed.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7863840" cy="2377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2588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diff analysis.R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@@ -12,7 +12,8 @@ library(tidyverse)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Fit the model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-model &lt;- lm(outcome ~ dose, data = df)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+model &lt;- lm(outcome ~ dose + age + sex, data = df)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+# Adjusted for key confounders per reviewer feedback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summary(model)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(−) = removed line    Green (+) = added line    White = unchanged context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also see diffs in the RStudio GUI: click "Diff" in the Git pane, or click a file name → diff view.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Writing Good Commit Messages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3749040" cy="2560320"/>
          </a:xfrm>
          <a:prstGeom prst="rect">
            <a:avLst/>
          </a:prstGeom>
          <a:solidFill>
            <a:srgbClr val="FEE2E2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960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Avoid These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"update"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709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"fix stuff"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0025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"asdfghjkl"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2951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"changes"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587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"final version"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880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"misc"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3749040" cy="256032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960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This Instead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"Add PFAS dose-response model"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709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"Fix p-value calc in Fig 3"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0025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"Remove hardcoded file paths"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2951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"Add methods section to README"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5877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"Filter outliers in PM2.5 data"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880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"Adjust for BMI confounding"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complete the sentence "This commit will..."  →  "This commit will add PFAS dose-response model."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first line under 50 characters. Add a blank line then detailed explanation if needed.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 Great Commit Message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3200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05840"/>
            <a:ext cx="7315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Adjust dose-response model for age and BMI confounders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Reviewer 2 requested adjustment for potential confounders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the PFAS-cholesterol analysis. Added age and BMI to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linear model in analysis/03_regression.R.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Added age (continuous) and BMI (continuous) as covariates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Updated Table 2 to show adjusted estimates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R-squared improved from 0.12 to 0.31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Closes #7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Subject line: imperative mood, &lt;50 chars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Viewing History: git log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058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 --oneline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a3f2d1c Adjust model for age and BMI confounders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b7e4a92 Add Figure 3 dose-response curve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c1d8f3e Fix p-value calculation error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d9a2b7f Import cleaned PFAS biomonitoring data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e5c1d4a Initial commit with project structure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Useful git log variations: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32004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2918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06240" y="32918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one-line-per-commit view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32004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301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 -5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0" y="36301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only the last 5 commits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968496"/>
            <a:ext cx="32004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9684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--stat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0" y="396849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which files changed in each commit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306824"/>
            <a:ext cx="32004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068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--author="Smith"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06240" y="43068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only commits by a specific person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4645152"/>
            <a:ext cx="32004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6451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 analysis.R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06240" y="46451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only commits that touched a specific file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Undoing Mistakes (Don't Panic!)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8869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Unstage a file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1234440"/>
            <a:ext cx="41148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234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restore --staged file.R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12080" y="914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from staging, keeps changes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673352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Discard all changes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2039112"/>
            <a:ext cx="41148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039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restore file.R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0" y="17190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Reverts to last commit (destructive!)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478024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24963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Undo last commit (keep changes)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2843784"/>
            <a:ext cx="41148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8437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--soft HEAD~1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0" y="252374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Uncommits but keeps changes staged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282696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330098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 old version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8680" y="3648456"/>
            <a:ext cx="41148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3648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show HEAD~2:analysis.R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332841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file from 2 commits ago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087368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8680" y="41056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Amend last commit message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68680" y="4453128"/>
            <a:ext cx="41148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44531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--amend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41330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editor to fix the message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stash — Save Work Temporarily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switch branches but have uncommitted changes? Stash them temporarily.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86384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 current work-in-progress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stash push -m "WIP: new exposure model"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Switch branches, do other work...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main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Come back and restore your work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feature-branch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stash pop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stash as a clipboard for Git — it saves your uncommitted changes and restores a clean state.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stash list</a:t>
            </a: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view all stashes    |    </a:t>
            </a: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stash drop</a:t>
            </a: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delete a stash without applying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Ignoring Files with .gitignore (Preview)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 committing everything, set up .gitignore to exclude files that don't belong in version control.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4114800" cy="2743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.gitignore for R projects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.RData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.Rhistory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.Rproj.user/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Large data files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data/raw/*.csv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Sensitive info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.Renviron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 (can regenerate)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output/figures/*.png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1371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created the repo with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GitHub's R template, many of these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already added for you.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cover .gitignore in detail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Module 6.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7863840" cy="4389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943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48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5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Exercise 1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005840" y="10515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Commit Cycle — 10 minutes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05840" y="146304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Create a new R script: File → New File → R Script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" y="1792224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Write 3–5 lines of R code (load a library, create a vector, etc.)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2121408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Save it as my_first_script.R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2450592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the Terminal: git status (see it listed as untracked)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2779776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 the Git pane: check the Staged box next to my_first_script.R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0" y="310896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Click Commit → write message: "Add first practice script" → Commit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3438144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Click Push (↑) → enter username + PAT when prompted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3767328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Go to your GitHub repo in a browser — confirm the file appeared!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7863840" cy="4389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943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48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5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Exercise 2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005840" y="10515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Modify, Diff, and Commit Again — 8 minutes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05840" y="146304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my_first_script.R and add 3 more lines of code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" y="1792224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Save the file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2121408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the Terminal: git diff my_first_script.R (see green + lines)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2450592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the Git pane: click the filename to see the diff view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2779776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Stage the file (check the box)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0" y="310896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Commit with message: "Expand analysis with additional calculations"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3438144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Push to GitHub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3767328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On GitHub: click the file → click "History" → see both commits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4096512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Bonus: try git log --oneline in the Terminal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B5E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10-Minute Break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Stretch, grab coffee, check your GitHub repo!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5E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Branching &amp;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Collaboration</a:t>
            </a:r>
            <a:endParaRPr lang="en-US" sz="3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9319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Branches: Safe Parallel Experiments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is a separate line of development. Think of it as a lab notebook page you can tear out if the experiment fails.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29" y="571500"/>
            <a:ext cx="8595360" cy="361429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3474720"/>
            <a:ext cx="786384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3566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-b new-model    </a:t>
            </a: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&amp; switch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main             </a:t>
            </a: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switch back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merge new-model           </a:t>
            </a: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merge into main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 Naming Conventions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branch names describe what you're working on. Keep them short, lowercase, with hyphens.</a:t>
            </a:r>
            <a:endParaRPr lang="en-US" sz="14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166116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Branch Name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feature/add-sensitivity-analysis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functionality or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fix/p-value-calculation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 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docs/update-readme-methods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updates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explore/random-forest-model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Experimental work (might be discarded)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review/reviewer2-confounders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in response to reviewer comments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spaces, uppercase, vague names like "test" or "my-branch" or "temp"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on a Branch — Full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3474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05840"/>
            <a:ext cx="7315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Create and switch to a new branch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-b feature/add-sensitivity-analysis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Do your work — edit files, write code, analyze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Stage and commit (possibly multiple times)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analysis/sensitivity.R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"Add sensitivity analysis for dose threshold"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Push the branch to GitHub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-u origin feature/add-sensitivity-analysis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Open a Pull Request on GitHub (in the browser)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After review &amp; merge, switch back and pull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main &amp;&amp; git pull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Pull Requests: Code Review for Scientists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Pull Request (PR) asks to merge your branch into main. It's where collaboration happens on GitHub.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7490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45720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417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 your branch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7922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-u origin branch-name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37490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377440"/>
            <a:ext cx="45720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774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4231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PR on GitHub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7980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"Compare &amp; pull request" banner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37490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383280"/>
            <a:ext cx="45720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832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34290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changes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8039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What, why, and what reviewers should check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37490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371600"/>
            <a:ext cx="45720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3716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1417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review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17922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 collaborator to review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377440"/>
            <a:ext cx="37490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377440"/>
            <a:ext cx="45720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3774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24231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 &amp; iterate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27980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comments, you fix, push again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383280"/>
            <a:ext cx="37490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383280"/>
            <a:ext cx="45720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3832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34290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Merge!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38039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"Merge pull request" when approved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Writing a Good Pull Request Description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3657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05840"/>
            <a:ext cx="7315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What this PR does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 sensitivity analysis varying the PFAS dose-response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 from 2.0 to 8.0 ng/mL in 0.5 increments.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Why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Reviewer 2 requested this to assess robustness of our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finding. See Issue #7.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What to review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analysis/sensitivity.R — new script, ~80 lines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output/figures/fig_sensitivity.png — new figure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Does the threshold range seem appropriate?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Testing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Knitted full report successfully. All existing tests pass.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Staying In Sync: Pull Before You Push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collaborating, always pull the latest changes before starting new work.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78638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Daily Workflow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1737360"/>
            <a:ext cx="27432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737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17373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latest from GitHub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19933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97280" y="2194560"/>
            <a:ext cx="274320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194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 your work)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2194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Edit, analyze, write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2450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97280" y="2651760"/>
            <a:ext cx="27432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651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0" y="2651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changes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0" y="29077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97280" y="3108960"/>
            <a:ext cx="27432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3108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"..."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0" y="3108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snapshot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286000" y="33649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97280" y="3566160"/>
            <a:ext cx="27432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3566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0" y="35661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team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 Conflicts: Not as Scary as They Sound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happen when two people edit the same line. Git marks the conflict so you can choose which version to keep.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786384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&lt;- lm(outcome ~ dose + age, data = df)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&lt;- lm(outcome ~ dose * age, data = df)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new-model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YOUR version above  |  THEIR version below =======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resolve: (1) Open the file  (2) Choose the correct version  (3) Delete the markers  (4) Stage &amp; commit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Prevention: Communicate about who's editing which files. Pull often. Use branches.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Resolving a Merge Conflict Step by Step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786384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868680"/>
            <a:ext cx="411480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6868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8869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tells you there's a conflict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17957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see "CONFLICT" in the terminal output after a merge or pull.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536192"/>
            <a:ext cx="786384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536192"/>
            <a:ext cx="411480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36192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1554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the conflicted file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184708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&lt;&lt;&lt;&lt;&lt;&lt;&lt; and &gt;&gt;&gt;&gt;&gt;&gt;&gt; markers in the code.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203704"/>
            <a:ext cx="786384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203704"/>
            <a:ext cx="411480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2219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 which version to keep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5146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might keep yours, theirs, or combine both. Edit the file.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871216"/>
            <a:ext cx="786384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2871216"/>
            <a:ext cx="411480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871216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288950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 ALL conflict markers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1821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&lt;&lt;&lt;&lt;&lt;&lt;&lt;, =======, and &gt;&gt;&gt;&gt;&gt;&gt;&gt; lines completely.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538728"/>
            <a:ext cx="786384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538728"/>
            <a:ext cx="411480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538728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355701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that the file works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384962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code to make sure your resolution is correct.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206240"/>
            <a:ext cx="786384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4206240"/>
            <a:ext cx="411480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20624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88720" y="42245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and commit the resolution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88720" y="451713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file.R &amp;&amp; git commit -m "Resolve merge conflict in model specification"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Cleaning Up: Deleting Merged Branches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branch is merged, delete it to keep your repo tidy. The history is preserved in main.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86384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Delete a local branch (after it's merged)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branch -d feature/add-sensitivity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Delete the remote branch on GitHub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origin --delete feature/add-sensitivity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all branches (local and remote)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branch -a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also offers a "Delete branch" button on the PR page after merging — this is the easiest way.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7863840" cy="4389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943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48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5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Exercise 3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005840" y="10515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Branch, Pull Request, Merge — 10 minutes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05840" y="146304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Create a new branch: git checkout -b add-exploration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" y="1792224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Create a new R script that loads mtcars and makes a simple plot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2121408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Stage and commit with a meaningful message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2450592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Push the branch: git push -u origin add-exploration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2779776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Go to GitHub.com → click "Compare &amp; pull request"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0" y="310896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Write a description and click "Create pull request"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3438144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Click "Merge pull request" → "Confirm merge"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3767328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Back in Posit Cloud: git checkout main &amp;&amp; git pull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4096512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Bonus: delete the branch on GitHub and locally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B5E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for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Scientific Teams</a:t>
            </a:r>
            <a:endParaRPr lang="en-US" sz="3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9319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minutes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Issues: Your Research To-Do List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track bugs, tasks, ideas, and discussion — all linked to your code.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2344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sensitivity analysis for confounders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0" y="1399032"/>
            <a:ext cx="10058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399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892808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8928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189280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colors not colorblind-friendly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2057400"/>
            <a:ext cx="1005840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057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551176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255117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2551176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data cleaning steps in README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2715768"/>
            <a:ext cx="1005840" cy="274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715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209544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320954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#9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3209544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random forest as alternative model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3374136"/>
            <a:ext cx="100584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33741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977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issues in commits:  git commit -m "Fix colorblind palette, closes #11"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343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keyword "closes" (or "fixes", "resolves") auto-closes the issue when the commit is merged to main.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Organizing Issues with Labels and Templates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categorize issues. Templates give contributors a structured form to fill out.</a:t>
            </a:r>
            <a:endParaRPr lang="en-US" sz="14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Label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Color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bug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Something isn't working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73A4A"/>
                          </a:solidFill>
                        </a:rPr>
                        <a:t>████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enhancement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New feature or analysis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75CA"/>
                          </a:solidFill>
                        </a:rPr>
                        <a:t>████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documentation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Docs, README, methods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8A16"/>
                          </a:solidFill>
                        </a:rPr>
                        <a:t>████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question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Discussion or decision needed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876E3"/>
                          </a:solidFill>
                        </a:rPr>
                        <a:t>████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good first issue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Simple task for new contributors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7057FF"/>
                          </a:solidFill>
                        </a:rPr>
                        <a:t>████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help wanted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Extra attention needed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8672"/>
                          </a:solidFill>
                        </a:rPr>
                        <a:t>████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wontfix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Will not be addressed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████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priority: high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Needs immediate attention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60205"/>
                          </a:solidFill>
                        </a:rPr>
                        <a:t>████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README.md: Your Project's Front Page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renders README.md as the landing page. Make it useful.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7863840" cy="3200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25880"/>
            <a:ext cx="7315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PFAS Dose-Response Analysis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of PFAS biomonitoring data from the RTP cohort.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Overview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project examines dose-response relationships between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serum PFAS concentrations and metabolic outcomes.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Getting Started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Clone: `git clone https://github.com/...`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Install deps: `renv::restore()`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Run: `source('R/00_run_all.R')`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Project Structure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R/ — scripts  |  data/ — raw &amp; processed  |  output/ — figures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Organizing a Scientific Repository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960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Structure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my-project/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01_clean.R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02_analyze.R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03_visualize.R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raw/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processed/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output/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figures/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tables/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.gitignore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my-project.Rproj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0" y="91440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983480" y="932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Number your scripts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01_, 02_ prefixes make analysis order clear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764792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764792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Separate raw from processed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2130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modify raw data — keep originals intact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615184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615184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26334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an R Project (.Rproj)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29809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paths relative and portable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465576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465576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34838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Include a README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38313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you (and reviewers) will thank you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Projects: Visual Task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Projects provides a Kanban board view of your issues — like Trello, but integrated with your code.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8288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17373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828800"/>
            <a:ext cx="36576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331720"/>
            <a:ext cx="17373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331720"/>
            <a:ext cx="36576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834640"/>
            <a:ext cx="17373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834640"/>
            <a:ext cx="36576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Shape 10"/>
          <p:cNvSpPr/>
          <p:nvPr/>
        </p:nvSpPr>
        <p:spPr>
          <a:xfrm>
            <a:off x="2651760" y="1325880"/>
            <a:ext cx="18288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325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97480" y="1828800"/>
            <a:ext cx="17373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97480" y="1828800"/>
            <a:ext cx="36576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Shape 14"/>
          <p:cNvSpPr/>
          <p:nvPr/>
        </p:nvSpPr>
        <p:spPr>
          <a:xfrm>
            <a:off x="2697480" y="2331720"/>
            <a:ext cx="17373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97480" y="2331720"/>
            <a:ext cx="36576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Shape 16"/>
          <p:cNvSpPr/>
          <p:nvPr/>
        </p:nvSpPr>
        <p:spPr>
          <a:xfrm>
            <a:off x="4663440" y="1325880"/>
            <a:ext cx="18288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1325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Review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1828800"/>
            <a:ext cx="17373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828800"/>
            <a:ext cx="36576" cy="4114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Shape 20"/>
          <p:cNvSpPr/>
          <p:nvPr/>
        </p:nvSpPr>
        <p:spPr>
          <a:xfrm>
            <a:off x="6675120" y="1325880"/>
            <a:ext cx="18288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1325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20840" y="1828800"/>
            <a:ext cx="17373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20840" y="1828800"/>
            <a:ext cx="36576" cy="411480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26" name="Shape 24"/>
          <p:cNvSpPr/>
          <p:nvPr/>
        </p:nvSpPr>
        <p:spPr>
          <a:xfrm>
            <a:off x="6720840" y="2331720"/>
            <a:ext cx="17373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20840" y="2331720"/>
            <a:ext cx="36576" cy="411480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set up: GitHub repo → Projects tab → New project → Board view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can be dragged between columns. PRs linked to issues auto-move to "Done" when merged.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Releases &amp; Tags: Marking Milestones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mark specific commits. Releases bundle a tag with release notes and downloadable files.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86384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tag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tag -a v1.0 -m "Version submitted to EHP"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origin v1.0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create a Release on GitHub: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Repo → Releases → Draft new release → Choose tag v1.0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create releases: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Manuscript submission — tag the exact code that produced submitted results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Manuscript revision — tag each revision separately (v1.0, v2.0)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freeze — mark the point when data cleaning was finalized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Conference presentation — tag the code behind your poster or talk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Zenodo + GitHub = Citable Code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(by CERN) archives your GitHub releases and assigns a DOI — making your code citable.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384048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32588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zenodo.org and log in with your GitHub account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856232"/>
            <a:ext cx="384048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185623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the toggle ON for your repository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386584"/>
            <a:ext cx="384048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86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386584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Release on GitHub (as described on previous slide)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2916936"/>
            <a:ext cx="384048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2916936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automatically archives it and assigns a DOI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3447288"/>
            <a:ext cx="384048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44728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DOI badge to your README and cite it in your paper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1148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5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journals now require a DOI for code/data. Zenodo + GitHub makes this a 5-minute task, not a bureaucratic ordeal.</a:t>
            </a:r>
            <a:endParaRPr lang="en-US" sz="13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Forking: Contributing to Others' Projects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fork is your personal copy of someone else's repository. You can modify it freely without affecting the original.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8638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5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Fork Workflow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Click "Fork" on someone's GitHub repository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Clone YOUR fork to Posit Cloud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3225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Create a branch and make changes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615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Push to YOUR fork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907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Open a Pull Request from your fork to the original repo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The maintainer reviews and merges (or requests changes)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for: contributing to open-source packages, building on a collaborator's existing analysis, adapting a published analysis for your own data.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Pages: Free Project Websites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turns a repository into a website — perfect for lab pages, project documentation, and supplementary materials.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41148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→ Settings → Pages → Source: Deploy from branch → main → /docs folder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984248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984248"/>
            <a:ext cx="41148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84248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198424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HTML or Markdown files to the /docs folder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642616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642616"/>
            <a:ext cx="41148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42616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642616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and push — your site goes live at username.github.io/repo-name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300984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300984"/>
            <a:ext cx="41148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00984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300984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Markdown tip: knit to HTML, save in /docs, push — instant supplementary methods page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lab websites, R package documentation, interactive data dashboards, course materials.</a:t>
            </a:r>
            <a:endParaRPr lang="en-US" sz="13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Licensing Your Code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license, your code is "all rights reserved" by default — others legally cannot reuse it.</a:t>
            </a:r>
            <a:endParaRPr lang="en-US" sz="14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License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it means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MIT License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Do anything, just keep the copyright notice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Most permissive, widely used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GPL-3.0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Derivatives must also be open source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"Copyleft" — ensures code stays open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CC-BY-4.0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For non-code content (docs, data)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Requires attribution only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No license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All rights reserved — no reuse allowed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Avoid this for reproducible science!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657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add: create a LICENSE file in your repo, or select one when creating the repo on GitHub.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 your NIEHS tech transfer office about policies for government-funded code.</a:t>
            </a:r>
            <a:endParaRPr lang="en-US" sz="13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B5E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Practices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.gitignore</a:t>
            </a:r>
            <a:endParaRPr lang="en-US" sz="3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9319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</a:t>
            </a:r>
            <a:endParaRPr 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.gitignore: What NOT to Track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.gitignore to automatically exclude files that don't belong in version control.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931920" cy="3017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 workspace &amp; history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.RData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.Rhistory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.Rproj.user/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Large data files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data/raw/*.csv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*.rds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Sensitive info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.Renviron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credentials/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 (regeneratable)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output/figures/*.png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3749040" cy="137160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Track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600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5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 scripts, Rmd/qmd files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5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README.md, documentation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5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.gitignore itself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5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Small reference datasets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5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Config files (.Rproj)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743200"/>
            <a:ext cx="3749040" cy="1508760"/>
          </a:xfrm>
          <a:prstGeom prst="rect">
            <a:avLst/>
          </a:prstGeom>
          <a:solidFill>
            <a:srgbClr val="FEE2E2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788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 Track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31089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Large datasets (&gt;50 MB)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Passwords, API keys, tokens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.RData / .Rhistory files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Regeneratable output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PHI or PII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.gitignore Pattern Syntax</a:t>
            </a:r>
            <a:endParaRPr lang="en-US" sz="26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14400"/>
          <a:ext cx="786384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Pattern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Effect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*.csv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 all CSV files everywhere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data/*.csv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 CSVs in the data/ folder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data/**/*.csv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 CSVs in data/ and all subfolders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!data/reference.csv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Exception: DO track this specific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output/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 the entire output directory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.Renviron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 this specific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*.log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 all log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temp_*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 files starting with temp_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! to create exceptions. Order matters — later rules override earlier ones.</a:t>
            </a:r>
            <a:endParaRPr lang="en-US" sz="13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for Federal Scientists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solidFill>
            <a:srgbClr val="FEE2E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9601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8686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pushed to GitHub, data is in the history — even if you delete the file later.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50876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002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508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Never commit sensitive data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931920" y="15087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PII, PHI, API keys, or unpublished confidential data.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" y="205740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14884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057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private repos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931920" y="20574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accounts support private repos. Go public when ready.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40080" y="260604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9748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2606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.gitignore proactively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3931920" y="26060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patterns BEFORE creating sensitive files.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40080" y="315468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4612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88720" y="3154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.Renviron for secrets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3931920" y="31546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API keys there (gitignored). Access via Sys.getenv().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640080" y="370332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794760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188720" y="3703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with your ISSO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3931920" y="37033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NIEHS Information System Security Officer can advise on policies.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343400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188720" y="4251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before making public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3931920" y="42519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all files and history before changing visibility.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Often Should You Commit?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commits as saving a document — but with purpose. Each commit should be a logical unit of work.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749040" cy="1828800"/>
          </a:xfrm>
          <a:prstGeom prst="rect">
            <a:avLst/>
          </a:prstGeom>
          <a:solidFill>
            <a:srgbClr val="FEE2E2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 infrequent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commit per week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Hundreds of changes mixed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Impossible to review or revert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Defeats the purpose of Git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749040" cy="182880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Just right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After each logical change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2–10 commits per work session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commit has a clear purpose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be reviewed independently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7863840" cy="731520"/>
          </a:xfrm>
          <a:prstGeom prst="rect">
            <a:avLst/>
          </a:prstGeom>
          <a:solidFill>
            <a:srgbClr val="FEF3C7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3375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you can't describe the commit in one sentence, it's probably too big.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commit more often — you can always squash commits later.</a:t>
            </a:r>
            <a:endParaRPr lang="en-US" sz="13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Command Quick Reference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37744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" y="1143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108960" y="11430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name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237744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4813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0" y="14813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email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822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237744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1143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23760" y="11430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481328"/>
            <a:ext cx="237744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809744" y="14813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&lt;file&gt;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23760" y="14813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819656"/>
            <a:ext cx="237744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4809744" y="18196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"msg"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18196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157984"/>
            <a:ext cx="237744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4809744" y="21579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/ pull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23760" y="21579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29260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3246120"/>
            <a:ext cx="237744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" y="32461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&lt;n&gt;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108960" y="3246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branch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3584448"/>
            <a:ext cx="237744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" y="35844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08960" y="35844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3922776"/>
            <a:ext cx="237744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" y="39227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&lt;b&gt;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108960" y="39227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4261104"/>
            <a:ext cx="237744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" y="42611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-d &lt;b&gt;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108960" y="42611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29260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54880" y="3246120"/>
            <a:ext cx="237744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4809744" y="32461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23760" y="3246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584448"/>
            <a:ext cx="237744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4809744" y="35844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23760" y="35844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3922776"/>
            <a:ext cx="237744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2"/>
          <p:cNvSpPr/>
          <p:nvPr/>
        </p:nvSpPr>
        <p:spPr>
          <a:xfrm>
            <a:off x="4809744" y="39227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23760" y="39227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WIP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4261104"/>
            <a:ext cx="237744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5"/>
          <p:cNvSpPr/>
          <p:nvPr/>
        </p:nvSpPr>
        <p:spPr>
          <a:xfrm>
            <a:off x="4809744" y="42611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show HEAD:f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223760" y="42611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file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7863840" cy="4389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943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48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5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Exercise 4 (Capstone)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005840" y="10515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 Practice — 15 minutes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05840" y="146304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Create a new branch: git checkout -b add-exploration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" y="1792224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Create an R script that loads a dataset and generates a plot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2121408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Stage and commit with a meaningful message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2450592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Push the branch: git push -u origin add-exploration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2779776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On GitHub: open a Pull Request with a description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0" y="310896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Merge the Pull Request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3438144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Back in Posit Cloud: git checkout main &amp;&amp; git pull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3767328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Create an Issue on GitHub describing a next step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4096512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Bonus: close the issue with a commit: "Add X, closes #1"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to Go From Here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78992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9326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Happy Git and GitHub for the useR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0" y="9326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happygitwithr.com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325880" y="126187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gold-standard guide for R users — comprehensive and free.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682496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4708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17007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Posit Cloud Documentation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943600" y="17007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docs.posit.co/cloud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325880" y="20299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docs on Git integration and authentication.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2450592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15184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2468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Skills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943600" y="2468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skills.github.com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1325880" y="279806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hands-on courses from GitHub.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3218688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8328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32369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Carpentry: Git Novice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943600" y="32369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swcarpentry.github.io/git-novice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1325880" y="35661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Well-tested lesson for scientists new to version control.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40080" y="3986784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51376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25880" y="40050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Oh Shit, Git!?!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5943600" y="40050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ohshitgit.com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1325880" y="433425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solutions to common Git mistakes.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B5E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You're a Git User Now!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learned to: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33172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0" y="23134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Git + GitHub on Posit Cloud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67004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0" y="2651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Stage, commit, push, pull, and diff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00837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43200" y="29900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branches, pull requests, and resolve conflicts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34670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743200" y="33284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good commit messages and organize repos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685032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2743200" y="36667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Issues, releases, and .gitignore</a:t>
            </a:r>
            <a:endParaRPr lang="en-US" sz="14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023360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2743200" y="40050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sensitive data out of version control</a:t>
            </a:r>
            <a:endParaRPr lang="en-US" sz="1400" dirty="0"/>
          </a:p>
        </p:txBody>
      </p:sp>
      <p:sp>
        <p:nvSpPr>
          <p:cNvPr id="18" name="Text 10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way to learn Git is to use it every day.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your next project — even if it's solo work.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6484</Words>
  <Application>Microsoft Macintosh PowerPoint</Application>
  <PresentationFormat>On-screen Show (16:9)</PresentationFormat>
  <Paragraphs>1101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7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 for Scientists — Posit Cloud Workshop</dc:title>
  <dc:subject>PptxGenJS Presentation</dc:subject>
  <dc:creator>NIEHS Training</dc:creator>
  <cp:lastModifiedBy>R. Burke Squires</cp:lastModifiedBy>
  <cp:revision>2</cp:revision>
  <dcterms:created xsi:type="dcterms:W3CDTF">2026-03-19T14:04:38Z</dcterms:created>
  <dcterms:modified xsi:type="dcterms:W3CDTF">2026-03-19T14:07:08Z</dcterms:modified>
</cp:coreProperties>
</file>